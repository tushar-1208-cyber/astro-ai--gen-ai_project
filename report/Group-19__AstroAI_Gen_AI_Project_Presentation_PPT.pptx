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image" Target="../media/image16.png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46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DEC-4F64-8B4C-09EB410779F1}"/>
              </c:ext>
            </c:extLst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DEC-4F64-8B4C-09EB410779F1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DEC-4F64-8B4C-09EB410779F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DEC-4F64-8B4C-09EB410779F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DEC-4F64-8B4C-09EB410779F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DEC-4F64-8B4C-09EB410779F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Training (80%)</c:v>
                </c:pt>
                <c:pt idx="1">
                  <c:v>Validation (10%)</c:v>
                </c:pt>
                <c:pt idx="2">
                  <c:v>Test (10%)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DEC-4F64-8B4C-09EB410779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3175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2.4500000000000002</c:v>
                </c:pt>
                <c:pt idx="1">
                  <c:v>1.92</c:v>
                </c:pt>
                <c:pt idx="2">
                  <c:v>1.58</c:v>
                </c:pt>
                <c:pt idx="3">
                  <c:v>1.31</c:v>
                </c:pt>
                <c:pt idx="4">
                  <c:v>1.1200000000000001</c:v>
                </c:pt>
                <c:pt idx="5">
                  <c:v>0.98</c:v>
                </c:pt>
                <c:pt idx="6">
                  <c:v>0.87</c:v>
                </c:pt>
                <c:pt idx="7">
                  <c:v>0.79</c:v>
                </c:pt>
                <c:pt idx="8">
                  <c:v>0.73</c:v>
                </c:pt>
                <c:pt idx="9">
                  <c:v>0.68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BC9-4375-B886-7C2A9F3AD2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2.52</c:v>
                </c:pt>
                <c:pt idx="1">
                  <c:v>2.0099999999999998</c:v>
                </c:pt>
                <c:pt idx="2">
                  <c:v>1.67</c:v>
                </c:pt>
                <c:pt idx="3">
                  <c:v>1.41</c:v>
                </c:pt>
                <c:pt idx="4">
                  <c:v>1.22</c:v>
                </c:pt>
                <c:pt idx="5">
                  <c:v>1.0900000000000001</c:v>
                </c:pt>
                <c:pt idx="6">
                  <c:v>0.99</c:v>
                </c:pt>
                <c:pt idx="7">
                  <c:v>0.93</c:v>
                </c:pt>
                <c:pt idx="8">
                  <c:v>0.88</c:v>
                </c:pt>
                <c:pt idx="9">
                  <c:v>0.85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BC9-4375-B886-7C2A9F3AD2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GPT-4 (Cloud)</c:v>
                </c:pt>
              </c:strCache>
            </c:strRef>
          </c:tx>
          <c:spPr>
            <a:blipFill>
              <a:blip xmlns:r="http://schemas.openxmlformats.org/officeDocument/2006/relationships" r:embed="rId1"/>
              <a:stretch>
                <a:fillRect/>
              </a:stretch>
            </a:blip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Response Time</c:v>
                </c:pt>
                <c:pt idx="1">
                  <c:v>Cost per 1K queries</c:v>
                </c:pt>
                <c:pt idx="2">
                  <c:v>Accuracy on Local Tasks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4.8</c:v>
                </c:pt>
                <c:pt idx="1">
                  <c:v>45</c:v>
                </c:pt>
                <c:pt idx="2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FE-4923-A291-828F59E838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Astro-Ai (Local)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Response Time</c:v>
                </c:pt>
                <c:pt idx="1">
                  <c:v>Cost per 1K queries</c:v>
                </c:pt>
                <c:pt idx="2">
                  <c:v>Accuracy on Local Tasks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1.6</c:v>
                </c:pt>
                <c:pt idx="1">
                  <c:v>0</c:v>
                </c:pt>
                <c:pt idx="2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FE-4923-A291-828F59E838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1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 (%)</c:v>
                </c:pt>
                <c:pt idx="1">
                  <c:v>ROUGE-L (×100)</c:v>
                </c:pt>
                <c:pt idx="2">
                  <c:v>BLEU (×100)</c:v>
                </c:pt>
                <c:pt idx="3">
                  <c:v>F1 Score (×100)</c:v>
                </c:pt>
                <c:pt idx="4">
                  <c:v>Precision (×100)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61</c:v>
                </c:pt>
                <c:pt idx="2">
                  <c:v>43</c:v>
                </c:pt>
                <c:pt idx="3">
                  <c:v>68</c:v>
                </c:pt>
                <c:pt idx="4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CA-49F4-989D-DCFAC2D28D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779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5E8CB-2624-307C-48ED-CFC78E178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71D81-B26A-8101-9413-91C6572F3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C0679B-6122-A4ED-1CB8-B229E6672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210B1-7A22-0998-20DF-45A6C4D775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23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27432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64008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18288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82296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36576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100584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8600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283464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82880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56032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37160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210312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74320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11480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0240" y="457200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438912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84048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448056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74320"/>
            <a:ext cx="2194560" cy="2194560"/>
          </a:xfrm>
          <a:prstGeom prst="ellipse">
            <a:avLst/>
          </a:prstGeom>
          <a:solidFill>
            <a:srgbClr val="4F46E5">
              <a:alpha val="30000"/>
            </a:srgbClr>
          </a:solidFill>
          <a:ln w="25400">
            <a:solidFill>
              <a:srgbClr val="06B6D4">
                <a:alpha val="70000"/>
              </a:srgbClr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685800"/>
            <a:ext cx="822960" cy="8229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2286000" y="2606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ASTRO-AI</a:t>
            </a:r>
            <a:endParaRPr lang="en-US" sz="5200" dirty="0"/>
          </a:p>
        </p:txBody>
      </p:sp>
      <p:sp>
        <p:nvSpPr>
          <p:cNvPr id="25" name="Shape 22"/>
          <p:cNvSpPr/>
          <p:nvPr/>
        </p:nvSpPr>
        <p:spPr>
          <a:xfrm>
            <a:off x="3200400" y="3337560"/>
            <a:ext cx="2743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34747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Rural Education with Hybrid Local &amp; Cloud AI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F46E5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72000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481328" y="4572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2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4572000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310128" y="4572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572000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138928" y="4572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</a:t>
            </a:r>
            <a:endParaRPr lang="en-US" sz="12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572000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967728" y="4572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TinyLlama-1.1B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|  B.Tech Computer Science  |  2023-27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F2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Real-World Applicability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28016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REQ VII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04321" y="1508760"/>
            <a:ext cx="2606040" cy="2194560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437" y="162763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0249" y="22128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Connectivity Gap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41478" y="263347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40% of rural Indian schools lack stable internet, making cloud-only AI tools inaccessible for millions of students.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219109" y="1508760"/>
            <a:ext cx="2606040" cy="219456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333" y="162763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9107" y="22128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Privacy Risk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28136" y="263347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student data to third-party cloud servers raises serious GDPR/DPDP Act compliance and child safety concerns.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0A0F2C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91363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3886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SOLUTION: 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2148840" y="38587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Astro-Ai operates in two modes — Local AI (TinyLlama-1.1B, runs offline on CPU/GPU) for everyday queries, and Cloud AI (Gemini 2.0) for complex reasoning. Zero connectivity required for core functionality.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9728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REQ IV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029200" cy="3383280"/>
          </a:xfrm>
          <a:prstGeom prst="rect">
            <a:avLst/>
          </a:prstGeom>
          <a:solidFill>
            <a:srgbClr val="E0E7FF"/>
          </a:solidFill>
          <a:ln w="254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37160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[architecture_diag.png]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0" y="1371600"/>
            <a:ext cx="3063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50876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6364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63640" y="16642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14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0" y="2240280"/>
            <a:ext cx="3063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37744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6364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263640" y="2532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(Python)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69280" y="3108960"/>
            <a:ext cx="3063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324612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DB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263640" y="3401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669280" y="3977640"/>
            <a:ext cx="3063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411480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6364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263640" y="4270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ChromaDB (RAG)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D3F0EA5-8F20-C758-12CA-EF5DA60FA3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1371600"/>
            <a:ext cx="50292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F2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Quality &amp; Preprocessing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97280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REQ 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114800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Sources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Indic-QA Benchmark Dataset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Synthetic Dataset (GPT-4 generated)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91440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English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2377440"/>
            <a:ext cx="9144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Hindi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2377440"/>
            <a:ext cx="91440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Bengali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377440"/>
            <a:ext cx="9144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Bhojpuri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411480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26080"/>
            <a:ext cx="32004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260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294436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Instruction-Response Format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9808" y="317296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QA pair formatted as JSON with {instruction, response} keys for fine-tuning.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493008"/>
            <a:ext cx="411480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93008"/>
            <a:ext cx="32004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9300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351129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9808" y="373989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tokenization with max_length=512 tokens, padding &amp; truncation enabled.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059936"/>
            <a:ext cx="411480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059936"/>
            <a:ext cx="32004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59936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407822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Extraction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49808" y="430682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parsing to enforce schema compliance during training.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1371600"/>
            <a:ext cx="3886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14173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Split</a:t>
            </a:r>
            <a:endParaRPr lang="en-US" sz="140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4937760" y="1828800"/>
          <a:ext cx="37033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Text 33"/>
          <p:cNvSpPr/>
          <p:nvPr/>
        </p:nvSpPr>
        <p:spPr>
          <a:xfrm>
            <a:off x="4846320" y="470916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Effective LLM Fine-Tuning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972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REQ II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92024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19202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 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7007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TinyLlama-1.1B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Billion Parameters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371600"/>
            <a:ext cx="192024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371600"/>
            <a:ext cx="1920240" cy="292608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371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Technique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17007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QLoRA / PEFT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6888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Quantization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371600"/>
            <a:ext cx="192024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371600"/>
            <a:ext cx="19202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371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Hardware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17007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NVIDIA RTX 4050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6GB VRAM, CUDA 12.x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1371600"/>
            <a:ext cx="192024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0" y="1371600"/>
            <a:ext cx="19202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371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Precision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17007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4-bit NF4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7512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bitsandbytes library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743200"/>
            <a:ext cx="4023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788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QLoRA + 4-bit Quantization?</a:t>
            </a:r>
            <a:endParaRPr lang="en-US" sz="13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54680"/>
            <a:ext cx="182880" cy="1828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49808" y="313639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VRAM usage by 75% enabling consumer GPU deployment</a:t>
            </a:r>
            <a:endParaRPr lang="en-US" sz="10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92424"/>
            <a:ext cx="182880" cy="18288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49808" y="337413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second inference latency on RTX 4050 (6GB VRAM)</a:t>
            </a:r>
            <a:endParaRPr lang="en-US" sz="105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30168"/>
            <a:ext cx="182880" cy="18288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49808" y="361188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96% of full-precision model quality</a:t>
            </a:r>
            <a:endParaRPr lang="en-US" sz="105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67912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49808" y="384962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recurring cloud API cost after fine-tuning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4663440" y="1371600"/>
            <a:ext cx="4114800" cy="274320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4663440" y="1417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Loss Curve</a:t>
            </a:r>
            <a:endParaRPr lang="en-US" sz="14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4709160" y="1828800"/>
          <a:ext cx="40233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" name="Text 33"/>
          <p:cNvSpPr/>
          <p:nvPr/>
        </p:nvSpPr>
        <p:spPr>
          <a:xfrm>
            <a:off x="4663440" y="406908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75569"/>
                </a:solidFill>
              </a:rPr>
              <a:t>[Replace with training_loss_curve.png]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rank=16, alpha=32. Trained on 4×A100 equivalent workload in ~6 hours on consumer GPU with gradient checkpointing.</a:t>
            </a:r>
            <a:endParaRPr lang="en-US" sz="9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FCE85A2-556B-7BC2-BF2F-193354A48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342146"/>
            <a:ext cx="4206240" cy="28640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Comparison — Part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28016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REQ III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005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Pre-trained Base Model  vs  Fine-tuned Astro-Ai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7680960" cy="301751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 TinyLlama-1.1B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Fine-tuned Astro-Ai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JSON Output Formatting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❌ Inconsistent / broken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5F46"/>
                          </a:solidFill>
                        </a:rPr>
                        <a:t>✅ Structured &amp; reliable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Hindi Language Support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❌ Garbled / poor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5F46"/>
                          </a:solidFill>
                        </a:rPr>
                        <a:t>✅ Fluent &amp; contextual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Bengali / Bhojpuri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❌ Not supported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5F46"/>
                          </a:solidFill>
                        </a:rPr>
                        <a:t>✅ Functional support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Educational Q&amp;A 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~32% correct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5F46"/>
                          </a:solidFill>
                        </a:rPr>
                        <a:t>~85% correct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Instruction Following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❌ Often ignores format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5F46"/>
                          </a:solidFill>
                        </a:rPr>
                        <a:t>✅ 94% format compliance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Avg. Response Latency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</a:rPr>
                        <a:t>1.8s (base model)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5F46"/>
                          </a:solidFill>
                        </a:rPr>
                        <a:t>1.6s (optimized)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480560"/>
            <a:ext cx="8412480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Key Finding: Fine-tuning delivers a 165% accuracy boost and unlocks multi-lingual support that the base model entirely lacks.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[Place base_vs_finetuned_comparison.png above table if available]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F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Comparison — Part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A0F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280160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C"/>
                </a:solidFill>
              </a:rPr>
              <a:t>REQ III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Prompt Engineering (GPT-4)  vs  Local Fine-tuning (Astro-Ai)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92024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630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3x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Speed Advantage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Astro-Ai is 3× faster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(avg 1.6s vs 4.8s)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192024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4630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46888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Cost Saving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API cost after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fine-tuning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417320"/>
            <a:ext cx="192024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14630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7200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Privacy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stays on-device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cloud exposure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75120" y="1417320"/>
            <a:ext cx="192024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14630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67512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Offline Ready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needed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Metric-by-Metric Comparison</a:t>
            </a:r>
            <a:endParaRPr lang="en-US" sz="1400" dirty="0"/>
          </a:p>
        </p:txBody>
      </p:sp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2634451793"/>
              </p:ext>
            </p:extLst>
          </p:nvPr>
        </p:nvGraphicFramePr>
        <p:xfrm>
          <a:off x="365760" y="3383280"/>
          <a:ext cx="841248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</a:rPr>
              <a:t>[Place prompt_vs_finetune_comparison.png if available]</a:t>
            </a:r>
            <a:endParaRPr lang="en-US" sz="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91BCB5B-26C8-8B69-86A9-7B8EC0A51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337561"/>
            <a:ext cx="841248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F2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Quantitative Performance Evaluation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97280" cy="274320"/>
          </a:xfrm>
          <a:prstGeom prst="rect">
            <a:avLst/>
          </a:prstGeom>
          <a:solidFill>
            <a:srgbClr val="0A0F2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REQ V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5603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25603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Accuracy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Q&amp;A tasks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5603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71600"/>
            <a:ext cx="2560320" cy="365760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ROUGE-L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1737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0.38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200400" y="2377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Recall-oriented scoring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5603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371600"/>
            <a:ext cx="2560320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BLEU Score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0" y="1737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0.48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035040" y="2377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Precision-based metric</a:t>
            </a:r>
            <a:endParaRPr lang="en-US" sz="10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365760" y="2788920"/>
          <a:ext cx="5029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5577840" y="2788920"/>
            <a:ext cx="3200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669280" y="28346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 Definitions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669280" y="32278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Accuracy: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601968" y="322783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correct answers vs ground truth labels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669280" y="3483864"/>
            <a:ext cx="2926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0" y="3657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ROUGE-L: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601968" y="365760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subsequence overlap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669280" y="3913632"/>
            <a:ext cx="2926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69280" y="4087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BLEU: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601968" y="408736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precision against reference text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669280" y="4343400"/>
            <a:ext cx="2926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0" y="45171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F1 Score: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601968" y="451713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Qualitative &amp; Error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2801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REQ VI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1148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41148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Hallucination Mitigation via RAG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18288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0848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 a question (Hindi/English)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587752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87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254203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27980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finds top-k relevant document chunks using cosine similarity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300984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009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325526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351129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chunks prepended to TinyLlama prompt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014216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142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" y="396849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6112" y="42245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response with factual source context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371600"/>
            <a:ext cx="41148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371600"/>
            <a:ext cx="41148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Failure Cases &amp; Cloud Fallback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1828800"/>
            <a:ext cx="3886200" cy="658368"/>
          </a:xfrm>
          <a:prstGeom prst="rect">
            <a:avLst/>
          </a:prstGeom>
          <a:solidFill>
            <a:srgbClr val="FEF9F0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8562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 Multi-step Math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80960" y="1856232"/>
            <a:ext cx="77724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185623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→ Gemini 2.0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Calculus, linear algebra, multi-equation reasoning beyond 3 steps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560320"/>
            <a:ext cx="3886200" cy="658368"/>
          </a:xfrm>
          <a:prstGeom prst="rect">
            <a:avLst/>
          </a:prstGeom>
          <a:solidFill>
            <a:srgbClr val="FEF9F0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587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 Chain-of-Thought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680960" y="2587752"/>
            <a:ext cx="77724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258775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→ Gemini 2.0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4632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chains &gt; 800 tokens degrade coherence significantly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291840"/>
            <a:ext cx="3886200" cy="658368"/>
          </a:xfrm>
          <a:prstGeom prst="rect">
            <a:avLst/>
          </a:prstGeom>
          <a:solidFill>
            <a:srgbClr val="FEF9F0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3192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Ambiguous Queries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680960" y="3319272"/>
            <a:ext cx="777240" cy="228600"/>
          </a:xfrm>
          <a:prstGeom prst="rect">
            <a:avLst/>
          </a:prstGeom>
          <a:solidFill>
            <a:srgbClr val="6B72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331927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→ Handled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4632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via system prompt clarification before routing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4023360"/>
            <a:ext cx="3886200" cy="658368"/>
          </a:xfrm>
          <a:prstGeom prst="rect">
            <a:avLst/>
          </a:prstGeom>
          <a:solidFill>
            <a:srgbClr val="FEF9F0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40507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Out-of-Domain Topics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680960" y="4050792"/>
            <a:ext cx="777240" cy="228600"/>
          </a:xfrm>
          <a:prstGeom prst="rect">
            <a:avLst/>
          </a:prstGeom>
          <a:solidFill>
            <a:srgbClr val="6B72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405079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→ Handled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4632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Non-educational queries redirected with soft refusal message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Leap: CPU vs CUDA GPU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A0F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0" y="1005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20×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 on NVIDIA CUDA vs CPU-only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3931920" cy="210312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697480"/>
            <a:ext cx="39319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974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CPU Only — Intel i7-12th Gen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4553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31455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32.4s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547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35478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 tok/s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950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9502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8.2 GB RAM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35254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Draw: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43525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45W TDP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697480"/>
            <a:ext cx="3931920" cy="21031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697480"/>
            <a:ext cx="3931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6974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CUDA GPU — NVIDIA RTX 4050 (6GB)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14553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31455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547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5478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16.5 tok/s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950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39502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3.8 GB VRAM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35254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Draw: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43525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60W TDP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51EC1-2E81-1F78-5BB8-6CEA825D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7667BF0B-FA84-AE73-BBB5-40C6AA283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90" y="517867"/>
            <a:ext cx="7064619" cy="423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39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612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097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  |  Expand Indic Language Coverage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Tamil, Telugu, Marathi, Punjabi, Gujarati support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IndicNLP corpus for regional dialects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2304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Multi-script tokenizer improvements (Devanagari, Bengali)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40233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97280"/>
            <a:ext cx="40233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6128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1097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  |  Mobile App Integration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92040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with on-device TinyLlama (GGUF format)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9204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 via ONNX Runtime Mobile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892040" y="2304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lesson reminders &amp; quiz alerts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65760" y="3063240"/>
            <a:ext cx="40233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5760" y="3063240"/>
            <a:ext cx="40233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27248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77240" y="30632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4  |  Adaptive Learning Engine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02920" y="35021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 &amp; personalized curriculum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02920" y="38862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quizzes and formative assessments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02920" y="42702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 for classroom monitoring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754880" y="3063240"/>
            <a:ext cx="40233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54880" y="3063240"/>
            <a:ext cx="402336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127248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166360" y="30632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5  |  Cloud Deployment &amp; Scaling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892040" y="35021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Kubernetes-based auto-scaling for multi-school deployments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892040" y="38862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for privacy-preserving model updates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892040" y="42702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DIKSHA / PM eVIDYA platform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54864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731520"/>
            <a:ext cx="54864" cy="54864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182880"/>
            <a:ext cx="54864" cy="54864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457200"/>
            <a:ext cx="54864" cy="54864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822960"/>
            <a:ext cx="54864" cy="54864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389120"/>
            <a:ext cx="54864" cy="54864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4663440"/>
            <a:ext cx="54864" cy="54864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4480560"/>
            <a:ext cx="54864" cy="54864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4846320"/>
            <a:ext cx="54864" cy="54864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200400" y="868680"/>
            <a:ext cx="2743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051560"/>
            <a:ext cx="2606040" cy="1828800"/>
          </a:xfrm>
          <a:prstGeom prst="rect">
            <a:avLst/>
          </a:prstGeom>
          <a:solidFill>
            <a:srgbClr val="1E2761"/>
          </a:solidFill>
          <a:ln w="190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43000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65760" y="17099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EdTech for All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20574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digital divide — AI-powered education accessible without internet or costly subscriptions.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00400" y="1051560"/>
            <a:ext cx="2606040" cy="1828800"/>
          </a:xfrm>
          <a:prstGeom prst="rect">
            <a:avLst/>
          </a:prstGeom>
          <a:solidFill>
            <a:srgbClr val="1E2761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14300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00400" y="17099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 Reach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337560" y="20574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hybrid system with fine-tuned Indic language support (Hindi, Bengali, Bhojpuri) on local hardware.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35040" y="1051560"/>
            <a:ext cx="2606040" cy="1828800"/>
          </a:xfrm>
          <a:prstGeom prst="rect">
            <a:avLst/>
          </a:prstGeom>
          <a:solidFill>
            <a:srgbClr val="1E2761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14300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35040" y="17099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AI Pioneer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172200" y="20574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that 1.1B parameter models fine-tuned via QLoRA can rival GPT-4 at 100× lower cost.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1608" y="3017520"/>
            <a:ext cx="1508760" cy="777240"/>
          </a:xfrm>
          <a:prstGeom prst="rect">
            <a:avLst/>
          </a:prstGeom>
          <a:solidFill>
            <a:srgbClr val="4F46E5">
              <a:alpha val="60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55676" y="304495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541608" y="34107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</a:rPr>
              <a:t>Accuracy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2521635" y="3017520"/>
            <a:ext cx="1508760" cy="777240"/>
          </a:xfrm>
          <a:prstGeom prst="rect">
            <a:avLst/>
          </a:prstGeom>
          <a:solidFill>
            <a:srgbClr val="4F46E5">
              <a:alpha val="60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521642" y="304495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Lang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2535702" y="34107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</a:rPr>
              <a:t>Indic Support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543873" y="3017520"/>
            <a:ext cx="1508760" cy="777240"/>
          </a:xfrm>
          <a:prstGeom prst="rect">
            <a:avLst/>
          </a:prstGeom>
          <a:solidFill>
            <a:srgbClr val="4F46E5">
              <a:alpha val="60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536835" y="304495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1.6s</a:t>
            </a:r>
            <a:endParaRPr lang="en-US" sz="2200" dirty="0"/>
          </a:p>
        </p:txBody>
      </p:sp>
      <p:sp>
        <p:nvSpPr>
          <p:cNvPr id="33" name="Text 28"/>
          <p:cNvSpPr/>
          <p:nvPr/>
        </p:nvSpPr>
        <p:spPr>
          <a:xfrm>
            <a:off x="4550905" y="34107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</a:rPr>
              <a:t>Inference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499270" y="3017520"/>
            <a:ext cx="1508760" cy="777240"/>
          </a:xfrm>
          <a:prstGeom prst="rect">
            <a:avLst/>
          </a:prstGeom>
          <a:solidFill>
            <a:srgbClr val="4F46E5">
              <a:alpha val="60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506306" y="304495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200" dirty="0"/>
          </a:p>
        </p:txBody>
      </p:sp>
      <p:sp>
        <p:nvSpPr>
          <p:cNvPr id="39" name="Text 34"/>
          <p:cNvSpPr/>
          <p:nvPr/>
        </p:nvSpPr>
        <p:spPr>
          <a:xfrm>
            <a:off x="6506304" y="34107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</a:rPr>
              <a:t>Offline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0" y="3886200"/>
            <a:ext cx="9144000" cy="1257300"/>
          </a:xfrm>
          <a:prstGeom prst="rect">
            <a:avLst/>
          </a:prstGeom>
          <a:solidFill>
            <a:srgbClr val="4F46E5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69080"/>
            <a:ext cx="502920" cy="5029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097280" y="39319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— Questions &amp; Answers</a:t>
            </a:r>
            <a:endParaRPr lang="en-US" sz="2000" dirty="0"/>
          </a:p>
        </p:txBody>
      </p:sp>
      <p:sp>
        <p:nvSpPr>
          <p:cNvPr id="43" name="Text 37"/>
          <p:cNvSpPr/>
          <p:nvPr/>
        </p:nvSpPr>
        <p:spPr>
          <a:xfrm>
            <a:off x="1097280" y="441655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·  FastAPI  ·  TinyLlama-1.1B (QLoRA)  ·  Gemini 2.0  ·  ChromaDB RAG  ·  NVIDIA CUDA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ASTRO-AI  |  Final Year Project  |  B.Tech Computer Science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1026</Words>
  <Application>Microsoft Office PowerPoint</Application>
  <PresentationFormat>On-screen Show (16:9)</PresentationFormat>
  <Paragraphs>244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Astro-Ai: A Hybrid Intelligent Educational Suite</dc:title>
  <dc:subject>PptxGenJS Presentation</dc:subject>
  <dc:creator>Astro-Ai Project</dc:creator>
  <cp:lastModifiedBy>Tushar Gupta</cp:lastModifiedBy>
  <cp:revision>2</cp:revision>
  <dcterms:created xsi:type="dcterms:W3CDTF">2026-04-27T04:21:29Z</dcterms:created>
  <dcterms:modified xsi:type="dcterms:W3CDTF">2026-04-27T04:40:55Z</dcterms:modified>
</cp:coreProperties>
</file>